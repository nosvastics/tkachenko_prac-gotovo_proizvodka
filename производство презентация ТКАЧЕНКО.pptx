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4D07A054-D357-4AF6-A420-D39F1559B967}">
          <p14:sldIdLst>
            <p14:sldId id="256"/>
            <p14:sldId id="257"/>
            <p14:sldId id="258"/>
            <p14:sldId id="259"/>
            <p14:sldId id="260"/>
            <p14:sldId id="261"/>
            <p14:sldId id="265"/>
            <p14:sldId id="262"/>
            <p14:sldId id="2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277" autoAdjust="0"/>
  </p:normalViewPr>
  <p:slideViewPr>
    <p:cSldViewPr snapToGrid="0">
      <p:cViewPr varScale="1">
        <p:scale>
          <a:sx n="106" d="100"/>
          <a:sy n="106" d="100"/>
        </p:scale>
        <p:origin x="75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CD363-06B3-4EC6-B27F-AA580EA68149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25144B-0E0C-4B56-9255-0FAEC88EFB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6322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25144B-0E0C-4B56-9255-0FAEC88EFBE4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024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25144B-0E0C-4B56-9255-0FAEC88EFBE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2049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25144B-0E0C-4B56-9255-0FAEC88EFBE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40845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25144B-0E0C-4B56-9255-0FAEC88EFBE4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0365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ED72F3-81AF-4701-B51A-DE27D3B404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AA4BD3A-DC7B-4919-A36E-CC3AAF77E2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F8CDAA-F2A1-4BD0-9789-E36DA81AD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51CA1-9A35-4BCD-83BF-C8DDB62146C1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DC7084-50A3-4CD9-8912-DD00A88BB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35DAF7-40FE-4BDF-9E1D-92E42ABA8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DD5E0-C8A3-4469-BEA7-DBFB449BE5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8588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1F4F95-AA98-4431-90D0-1FBEA3D6A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C703BA-DDC2-465C-9319-CAA5537DC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BBB10F-5FB8-4826-A1D7-830A50749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51CA1-9A35-4BCD-83BF-C8DDB62146C1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6DC24E-5322-47A0-B195-B25D6191B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6E526D-BEF4-464D-B0B3-F5865FED8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DD5E0-C8A3-4469-BEA7-DBFB449BE5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8022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0A8649-999D-4319-AE93-64FC09BCF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735F739-75DD-45FE-8C78-76AB42E3F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C047F3-DAB0-4F76-B5D7-7CF47F7F0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51CA1-9A35-4BCD-83BF-C8DDB62146C1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D14240-9F90-4815-9EDA-12D2B7701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76EC94-22AD-429F-AC07-10AB3EA27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DD5E0-C8A3-4469-BEA7-DBFB449BE5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1356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723EE2-0C0E-4059-963C-07B9DE356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B52137-FB1A-4423-94C1-D12B54E286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2975314-9EB5-47AF-A638-40FCD99AE2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DA213A3-8BC9-4ECA-9F06-527D9D786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51CA1-9A35-4BCD-83BF-C8DDB62146C1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D43F3DF-3137-493A-A026-3C3217D13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9D8354E-C8F9-4072-9F94-AECC507FA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DD5E0-C8A3-4469-BEA7-DBFB449BE5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9838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F5A094-14BC-475A-94B1-1A0F48B79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08823F-BC59-493F-B05E-FFC3D7BDD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7EA7A97-9D01-4356-BAF8-007DAD02BF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4053073-4D11-4B73-9F74-79ED0FA92C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400BF4B-A9F7-4295-980C-A81E8FE49B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93D3DF1-8A7B-40BA-AF40-3D3C3E55A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51CA1-9A35-4BCD-83BF-C8DDB62146C1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29C804D-E129-4C9C-AE6B-3A8F3BCD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4E51FE2-D2D9-422F-B9EC-18860664D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DD5E0-C8A3-4469-BEA7-DBFB449BE5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6043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55DF60-003F-476B-B12D-D36D141C7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4768426-228D-4583-B6A9-36B9E19E4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51CA1-9A35-4BCD-83BF-C8DDB62146C1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94E14C8-E12B-4003-AB88-48A40E90E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0064866-1BFC-40BA-A2A3-650F9FE5F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DD5E0-C8A3-4469-BEA7-DBFB449BE5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6711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2F8F3BD-45FC-4E7A-9ACC-04E38B886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51CA1-9A35-4BCD-83BF-C8DDB62146C1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3636085-8D1D-431C-B64A-3954412FF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5C154EE-6D61-4C52-87D4-B417979C1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DD5E0-C8A3-4469-BEA7-DBFB449BE5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6352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E5E4DA-114F-4CFC-9049-43570AA13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C95381-F3F5-45AC-B7AB-51EC5FDD9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77BEAD7-E21F-483E-8BA2-A28E404AC4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87E74BF-4D89-4E7B-BEAB-B56C49D56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51CA1-9A35-4BCD-83BF-C8DDB62146C1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4C81A4-CCD5-4EAE-A9BC-CD27E9B2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ACAAE1A-81E8-4D9B-9EE4-AB51874F9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DD5E0-C8A3-4469-BEA7-DBFB449BE5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8731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90DDEB-4BBE-425E-AAA9-C88901535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4DB0794-99BB-4819-B660-45816977D4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E6DD03E-217A-45A8-B543-5E53FC51E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6CC625-72B1-4C17-9E51-B8775D77B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51CA1-9A35-4BCD-83BF-C8DDB62146C1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0FA1A9F-66D1-47E2-BBDC-1C109F697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816C87-7046-4766-AD57-43A65BFBF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DD5E0-C8A3-4469-BEA7-DBFB449BE5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0953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BFF89D-20F2-4B6B-9FD8-84C8E6C1E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EF1EC6D-5EF9-4BA1-BAB1-404B177434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68D6E6-9BC5-4A83-AF0F-ECE6E764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51CA1-9A35-4BCD-83BF-C8DDB62146C1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192236-FF9F-4B97-8A5B-F03A5D482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DF90C9-47D0-4B5A-908C-CA76F93EA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DD5E0-C8A3-4469-BEA7-DBFB449BE5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8075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5AC5137-0FD6-4A3D-B6F9-AE5838F2DD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69857B4-9435-48C4-979D-CA20AB513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13D1BE0-EA62-4B4D-955F-C88E6D28C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51CA1-9A35-4BCD-83BF-C8DDB62146C1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456A901-71A3-4479-83EC-F694104F9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29922E-5BEC-45B9-9143-55BAAF947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DD5E0-C8A3-4469-BEA7-DBFB449BE5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8496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000">
              <a:schemeClr val="tx1">
                <a:lumMod val="65000"/>
                <a:lumOff val="35000"/>
              </a:schemeClr>
            </a:gs>
            <a:gs pos="0">
              <a:schemeClr val="bg1">
                <a:lumMod val="65000"/>
              </a:schemeClr>
            </a:gs>
            <a:gs pos="75000">
              <a:schemeClr val="tx1">
                <a:lumMod val="85000"/>
                <a:lumOff val="15000"/>
              </a:schemeClr>
            </a:gs>
            <a:gs pos="52000">
              <a:schemeClr val="tx1">
                <a:lumMod val="84000"/>
              </a:schemeClr>
            </a:gs>
            <a:gs pos="27000">
              <a:schemeClr val="tx1">
                <a:lumMod val="85000"/>
                <a:lumOff val="15000"/>
              </a:schemeClr>
            </a:gs>
            <a:gs pos="91000">
              <a:schemeClr val="tx1">
                <a:lumMod val="65000"/>
                <a:lumOff val="35000"/>
              </a:schemeClr>
            </a:gs>
            <a:gs pos="100000">
              <a:schemeClr val="bg1">
                <a:lumMod val="65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076833-3371-40C8-89A1-8BCF23B75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F795C70-5B45-45BB-B964-A524110F7E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C5270E3-6EE9-49E7-A27C-AE98D6D475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551CA1-9A35-4BCD-83BF-C8DDB62146C1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6A86EB-E50A-4D70-9E44-25F842C0F8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BA8D9B8-2AA9-46F6-84B7-EBF850BBDD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3DD5E0-C8A3-4469-BEA7-DBFB449BE5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5481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000">
              <a:schemeClr val="tx1">
                <a:lumMod val="95000"/>
                <a:lumOff val="5000"/>
              </a:schemeClr>
            </a:gs>
            <a:gs pos="0">
              <a:schemeClr val="bg1">
                <a:lumMod val="65000"/>
              </a:schemeClr>
            </a:gs>
            <a:gs pos="91000">
              <a:schemeClr val="tx1">
                <a:lumMod val="85000"/>
                <a:lumOff val="15000"/>
              </a:schemeClr>
            </a:gs>
            <a:gs pos="50000">
              <a:srgbClr val="00B050"/>
            </a:gs>
            <a:gs pos="5000">
              <a:schemeClr val="tx1">
                <a:lumMod val="85000"/>
                <a:lumOff val="15000"/>
              </a:schemeClr>
            </a:gs>
            <a:gs pos="99000">
              <a:schemeClr val="tx1">
                <a:lumMod val="65000"/>
                <a:lumOff val="35000"/>
              </a:schemeClr>
            </a:gs>
            <a:gs pos="100000">
              <a:schemeClr val="bg1">
                <a:lumMod val="65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37321EE0-1F85-4504-9D41-C9176D20085E}"/>
              </a:ext>
            </a:extLst>
          </p:cNvPr>
          <p:cNvSpPr/>
          <p:nvPr/>
        </p:nvSpPr>
        <p:spPr>
          <a:xfrm>
            <a:off x="1272271" y="230775"/>
            <a:ext cx="9781211" cy="731638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6D7DFEE-AD50-4667-A7B1-AB8FF751973B}"/>
              </a:ext>
            </a:extLst>
          </p:cNvPr>
          <p:cNvSpPr/>
          <p:nvPr/>
        </p:nvSpPr>
        <p:spPr>
          <a:xfrm>
            <a:off x="2057579" y="1254886"/>
            <a:ext cx="8431383" cy="631306"/>
          </a:xfrm>
          <a:prstGeom prst="rect">
            <a:avLst/>
          </a:prstGeom>
          <a:solidFill>
            <a:schemeClr val="tx1">
              <a:alpha val="48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720DA9F-0A22-4B82-BF7C-05C11609F449}"/>
              </a:ext>
            </a:extLst>
          </p:cNvPr>
          <p:cNvSpPr/>
          <p:nvPr/>
        </p:nvSpPr>
        <p:spPr>
          <a:xfrm>
            <a:off x="5857875" y="4213951"/>
            <a:ext cx="6192931" cy="1260416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0B1476F-3F04-4667-9A09-0411303AE479}"/>
              </a:ext>
            </a:extLst>
          </p:cNvPr>
          <p:cNvSpPr/>
          <p:nvPr/>
        </p:nvSpPr>
        <p:spPr>
          <a:xfrm>
            <a:off x="5111140" y="5955339"/>
            <a:ext cx="1960473" cy="343977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482FA974-CAB2-4DD8-B780-3FD08BA866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8518" y="259977"/>
            <a:ext cx="10040469" cy="663388"/>
          </a:xfrm>
        </p:spPr>
        <p:txBody>
          <a:bodyPr>
            <a:normAutofit fontScale="85000" lnSpcReduction="10000"/>
          </a:bodyPr>
          <a:lstStyle/>
          <a:p>
            <a:r>
              <a:rPr lang="en-US" spc="-26" dirty="0" err="1">
                <a:solidFill>
                  <a:srgbClr val="F2F0FB"/>
                </a:solidFill>
                <a:latin typeface="Montserrat"/>
              </a:rPr>
              <a:t>Министрество</a:t>
            </a:r>
            <a:r>
              <a:rPr lang="en-US" spc="-26" dirty="0">
                <a:solidFill>
                  <a:srgbClr val="F2F0FB"/>
                </a:solidFill>
                <a:latin typeface="Montserrat"/>
              </a:rPr>
              <a:t> </a:t>
            </a:r>
            <a:r>
              <a:rPr lang="en-US" spc="-26" dirty="0" err="1">
                <a:solidFill>
                  <a:srgbClr val="F2F0FB"/>
                </a:solidFill>
                <a:latin typeface="Montserrat"/>
              </a:rPr>
              <a:t>просвещения</a:t>
            </a:r>
            <a:r>
              <a:rPr lang="en-US" spc="-26" dirty="0">
                <a:solidFill>
                  <a:srgbClr val="F2F0FB"/>
                </a:solidFill>
                <a:latin typeface="Montserrat"/>
              </a:rPr>
              <a:t> </a:t>
            </a:r>
            <a:r>
              <a:rPr lang="en-US" spc="-26" dirty="0" err="1">
                <a:solidFill>
                  <a:srgbClr val="F2F0FB"/>
                </a:solidFill>
                <a:latin typeface="Montserrat"/>
              </a:rPr>
              <a:t>Приднестровской</a:t>
            </a:r>
            <a:r>
              <a:rPr lang="en-US" spc="-26" dirty="0">
                <a:solidFill>
                  <a:srgbClr val="F2F0FB"/>
                </a:solidFill>
                <a:latin typeface="Montserrat"/>
              </a:rPr>
              <a:t> </a:t>
            </a:r>
            <a:r>
              <a:rPr lang="en-US" spc="-26" dirty="0" err="1">
                <a:solidFill>
                  <a:srgbClr val="F2F0FB"/>
                </a:solidFill>
                <a:latin typeface="Montserrat"/>
              </a:rPr>
              <a:t>Молдавской</a:t>
            </a:r>
            <a:r>
              <a:rPr lang="en-US" spc="-26" dirty="0">
                <a:solidFill>
                  <a:srgbClr val="F2F0FB"/>
                </a:solidFill>
                <a:latin typeface="Montserrat"/>
              </a:rPr>
              <a:t> </a:t>
            </a:r>
            <a:r>
              <a:rPr lang="en-US" spc="-26" dirty="0" err="1">
                <a:solidFill>
                  <a:srgbClr val="F2F0FB"/>
                </a:solidFill>
                <a:latin typeface="Montserrat"/>
              </a:rPr>
              <a:t>республики</a:t>
            </a:r>
            <a:r>
              <a:rPr lang="en-US" spc="-26" dirty="0">
                <a:solidFill>
                  <a:srgbClr val="F2F0FB"/>
                </a:solidFill>
                <a:latin typeface="Montserrat"/>
              </a:rPr>
              <a:t> ГОУ СПО “</a:t>
            </a:r>
            <a:r>
              <a:rPr lang="en-US" spc="-26" dirty="0" err="1">
                <a:solidFill>
                  <a:srgbClr val="F2F0FB"/>
                </a:solidFill>
                <a:latin typeface="Montserrat"/>
              </a:rPr>
              <a:t>Тираспольский</a:t>
            </a:r>
            <a:r>
              <a:rPr lang="en-US" spc="-26" dirty="0">
                <a:solidFill>
                  <a:srgbClr val="F2F0FB"/>
                </a:solidFill>
                <a:latin typeface="Montserrat"/>
              </a:rPr>
              <a:t> </a:t>
            </a:r>
            <a:r>
              <a:rPr lang="en-US" spc="-26" dirty="0" err="1">
                <a:solidFill>
                  <a:srgbClr val="F2F0FB"/>
                </a:solidFill>
                <a:latin typeface="Montserrat"/>
              </a:rPr>
              <a:t>техникум</a:t>
            </a:r>
            <a:r>
              <a:rPr lang="en-US" spc="-26" dirty="0">
                <a:solidFill>
                  <a:srgbClr val="F2F0FB"/>
                </a:solidFill>
                <a:latin typeface="Montserrat"/>
              </a:rPr>
              <a:t> и </a:t>
            </a:r>
            <a:r>
              <a:rPr lang="en-US" spc="-26" dirty="0" err="1">
                <a:solidFill>
                  <a:srgbClr val="F2F0FB"/>
                </a:solidFill>
                <a:latin typeface="Montserrat"/>
              </a:rPr>
              <a:t>информатики</a:t>
            </a:r>
            <a:r>
              <a:rPr lang="en-US" spc="-26" dirty="0">
                <a:solidFill>
                  <a:srgbClr val="F2F0FB"/>
                </a:solidFill>
                <a:latin typeface="Montserrat"/>
              </a:rPr>
              <a:t> и </a:t>
            </a:r>
            <a:r>
              <a:rPr lang="en-US" spc="-26" dirty="0" err="1">
                <a:solidFill>
                  <a:srgbClr val="F2F0FB"/>
                </a:solidFill>
                <a:latin typeface="Montserrat"/>
              </a:rPr>
              <a:t>права</a:t>
            </a:r>
            <a:r>
              <a:rPr lang="en-US" spc="-26" dirty="0">
                <a:solidFill>
                  <a:srgbClr val="F2F0FB"/>
                </a:solidFill>
                <a:latin typeface="Montserrat"/>
              </a:rPr>
              <a:t>”</a:t>
            </a:r>
          </a:p>
          <a:p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FD3732B-437F-44C8-959F-2A527F26C939}"/>
              </a:ext>
            </a:extLst>
          </p:cNvPr>
          <p:cNvSpPr/>
          <p:nvPr/>
        </p:nvSpPr>
        <p:spPr>
          <a:xfrm>
            <a:off x="558271" y="959099"/>
            <a:ext cx="11430000" cy="845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682"/>
              </a:lnSpc>
            </a:pPr>
            <a:r>
              <a:rPr lang="ru-RU" sz="3200" b="1" spc="-66" dirty="0">
                <a:solidFill>
                  <a:srgbClr val="F2F0FB"/>
                </a:solidFill>
                <a:latin typeface="Montserrat Ultra-Bold"/>
              </a:rPr>
              <a:t>Производственная практика</a:t>
            </a:r>
            <a:endParaRPr lang="en-US" sz="3200" b="1" spc="-66" dirty="0">
              <a:solidFill>
                <a:srgbClr val="F2F0FB"/>
              </a:solidFill>
              <a:latin typeface="Montserrat Ultra-Bold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4E73573-D8F7-4863-90FA-1F0A5DDDB812}"/>
              </a:ext>
            </a:extLst>
          </p:cNvPr>
          <p:cNvSpPr/>
          <p:nvPr/>
        </p:nvSpPr>
        <p:spPr>
          <a:xfrm>
            <a:off x="5857875" y="4231340"/>
            <a:ext cx="6192931" cy="12073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ts val="3045"/>
              </a:lnSpc>
              <a:spcBef>
                <a:spcPct val="0"/>
              </a:spcBef>
            </a:pPr>
            <a:r>
              <a:rPr lang="ru-RU" spc="-30" dirty="0">
                <a:solidFill>
                  <a:srgbClr val="F2F0FB"/>
                </a:solidFill>
                <a:latin typeface="Montserrat"/>
              </a:rPr>
              <a:t>Выполнил</a:t>
            </a:r>
            <a:r>
              <a:rPr lang="en-US" spc="-30" dirty="0">
                <a:solidFill>
                  <a:srgbClr val="F2F0FB"/>
                </a:solidFill>
                <a:latin typeface="Montserrat"/>
              </a:rPr>
              <a:t>: </a:t>
            </a:r>
            <a:r>
              <a:rPr lang="ru-RU" spc="-30" dirty="0">
                <a:solidFill>
                  <a:srgbClr val="F2F0FB"/>
                </a:solidFill>
                <a:latin typeface="Montserrat"/>
              </a:rPr>
              <a:t>студент 315 группы Ткаченко О</a:t>
            </a:r>
            <a:r>
              <a:rPr lang="en-US" spc="-30" dirty="0">
                <a:solidFill>
                  <a:srgbClr val="F2F0FB"/>
                </a:solidFill>
                <a:latin typeface="Montserrat"/>
              </a:rPr>
              <a:t>. </a:t>
            </a:r>
            <a:r>
              <a:rPr lang="ru-RU" spc="-30" dirty="0">
                <a:solidFill>
                  <a:srgbClr val="F2F0FB"/>
                </a:solidFill>
                <a:latin typeface="Montserrat"/>
              </a:rPr>
              <a:t>В</a:t>
            </a:r>
            <a:r>
              <a:rPr lang="en-US" spc="-30" dirty="0">
                <a:solidFill>
                  <a:srgbClr val="F2F0FB"/>
                </a:solidFill>
                <a:latin typeface="Montserrat"/>
              </a:rPr>
              <a:t>.</a:t>
            </a:r>
            <a:endParaRPr lang="ru-RU" spc="-30" dirty="0">
              <a:solidFill>
                <a:srgbClr val="F2F0FB"/>
              </a:solidFill>
              <a:latin typeface="Montserrat"/>
            </a:endParaRPr>
          </a:p>
          <a:p>
            <a:pPr algn="r">
              <a:lnSpc>
                <a:spcPts val="3045"/>
              </a:lnSpc>
              <a:spcBef>
                <a:spcPct val="0"/>
              </a:spcBef>
            </a:pPr>
            <a:endParaRPr lang="ru-RU" spc="-30" dirty="0">
              <a:solidFill>
                <a:srgbClr val="F2F0FB"/>
              </a:solidFill>
              <a:latin typeface="Montserrat"/>
            </a:endParaRPr>
          </a:p>
          <a:p>
            <a:pPr>
              <a:lnSpc>
                <a:spcPts val="3045"/>
              </a:lnSpc>
              <a:spcBef>
                <a:spcPct val="0"/>
              </a:spcBef>
            </a:pPr>
            <a:r>
              <a:rPr lang="en-US" spc="-30" dirty="0" err="1">
                <a:solidFill>
                  <a:srgbClr val="F2F0FB"/>
                </a:solidFill>
                <a:latin typeface="Montserrat"/>
              </a:rPr>
              <a:t>Руководитель</a:t>
            </a:r>
            <a:r>
              <a:rPr lang="ru-RU" spc="-30" dirty="0">
                <a:solidFill>
                  <a:srgbClr val="F2F0FB"/>
                </a:solidFill>
                <a:latin typeface="Montserrat"/>
              </a:rPr>
              <a:t> учебной практики</a:t>
            </a:r>
            <a:r>
              <a:rPr lang="en-US" spc="-30" dirty="0">
                <a:solidFill>
                  <a:srgbClr val="F2F0FB"/>
                </a:solidFill>
                <a:latin typeface="Montserrat"/>
              </a:rPr>
              <a:t>:</a:t>
            </a:r>
            <a:r>
              <a:rPr lang="ru-RU" spc="-30" dirty="0">
                <a:solidFill>
                  <a:srgbClr val="F2F0FB"/>
                </a:solidFill>
                <a:latin typeface="Montserrat"/>
              </a:rPr>
              <a:t> </a:t>
            </a:r>
            <a:r>
              <a:rPr lang="ru-RU" spc="-30" dirty="0" err="1">
                <a:solidFill>
                  <a:srgbClr val="F2F0FB"/>
                </a:solidFill>
                <a:latin typeface="Montserrat"/>
              </a:rPr>
              <a:t>Подсекина</a:t>
            </a:r>
            <a:r>
              <a:rPr lang="ru-RU" spc="-30" dirty="0">
                <a:solidFill>
                  <a:srgbClr val="F2F0FB"/>
                </a:solidFill>
                <a:latin typeface="Montserrat"/>
              </a:rPr>
              <a:t> Т. С.</a:t>
            </a:r>
            <a:endParaRPr lang="en-US" spc="-30" dirty="0">
              <a:solidFill>
                <a:srgbClr val="F2F0FB"/>
              </a:solidFill>
              <a:latin typeface="Montserrat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F4D0328-C787-4B45-B234-24ED858D5F39}"/>
              </a:ext>
            </a:extLst>
          </p:cNvPr>
          <p:cNvSpPr/>
          <p:nvPr/>
        </p:nvSpPr>
        <p:spPr>
          <a:xfrm>
            <a:off x="5111141" y="5652051"/>
            <a:ext cx="1960473" cy="6065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4759"/>
              </a:lnSpc>
            </a:pPr>
            <a:r>
              <a:rPr lang="ru-RU" sz="1600" spc="-30" dirty="0">
                <a:solidFill>
                  <a:srgbClr val="F2F0FB"/>
                </a:solidFill>
                <a:latin typeface="Montserrat"/>
              </a:rPr>
              <a:t>ТИРАСПОЛЬ</a:t>
            </a:r>
            <a:r>
              <a:rPr lang="ru-RU" sz="1100" dirty="0">
                <a:solidFill>
                  <a:srgbClr val="FF914D"/>
                </a:solidFill>
                <a:latin typeface="Open Sans"/>
              </a:rPr>
              <a:t> </a:t>
            </a:r>
            <a:r>
              <a:rPr lang="ru-RU" sz="1600" spc="-30" dirty="0">
                <a:solidFill>
                  <a:srgbClr val="F2F0FB"/>
                </a:solidFill>
                <a:latin typeface="Montserrat"/>
              </a:rPr>
              <a:t>2025</a:t>
            </a:r>
            <a:endParaRPr lang="en-US" sz="1600" spc="-30" dirty="0">
              <a:solidFill>
                <a:srgbClr val="F2F0FB"/>
              </a:solidFill>
              <a:latin typeface="Montserrat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16BBD25-AE68-4DCB-B96A-9C694027286D}"/>
              </a:ext>
            </a:extLst>
          </p:cNvPr>
          <p:cNvSpPr/>
          <p:nvPr/>
        </p:nvSpPr>
        <p:spPr>
          <a:xfrm>
            <a:off x="380999" y="1871663"/>
            <a:ext cx="11430001" cy="918935"/>
          </a:xfrm>
          <a:prstGeom prst="rect">
            <a:avLst/>
          </a:prstGeom>
          <a:solidFill>
            <a:schemeClr val="tx1">
              <a:alpha val="48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41A4E23-00C1-4628-8B9B-5D21A546B94C}"/>
              </a:ext>
            </a:extLst>
          </p:cNvPr>
          <p:cNvSpPr/>
          <p:nvPr/>
        </p:nvSpPr>
        <p:spPr>
          <a:xfrm>
            <a:off x="380999" y="1864592"/>
            <a:ext cx="1135380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spc="-66" dirty="0">
                <a:solidFill>
                  <a:srgbClr val="F2F0FB"/>
                </a:solidFill>
                <a:latin typeface="Montserrat Ultra-Bold"/>
              </a:rPr>
              <a:t>по профессиональному модулю: ПМ.01. Разработка модулей программного обеспечения для компьютерных систем </a:t>
            </a:r>
            <a:endParaRPr lang="en-US" sz="2400" b="1" spc="-66" dirty="0">
              <a:solidFill>
                <a:srgbClr val="F2F0FB"/>
              </a:solidFill>
              <a:latin typeface="Montserrat Ultra-Bold"/>
            </a:endParaRPr>
          </a:p>
        </p:txBody>
      </p:sp>
    </p:spTree>
    <p:extLst>
      <p:ext uri="{BB962C8B-B14F-4D97-AF65-F5344CB8AC3E}">
        <p14:creationId xmlns:p14="http://schemas.microsoft.com/office/powerpoint/2010/main" val="3142971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15" grpId="0" animBg="1"/>
      <p:bldP spid="12" grpId="0" animBg="1"/>
      <p:bldP spid="4" grpId="0" build="p"/>
      <p:bldP spid="5" grpId="0"/>
      <p:bldP spid="14" grpId="0" animBg="1"/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000">
              <a:schemeClr val="tx1">
                <a:lumMod val="83000"/>
                <a:lumOff val="17000"/>
              </a:schemeClr>
            </a:gs>
            <a:gs pos="0">
              <a:schemeClr val="bg1">
                <a:lumMod val="65000"/>
              </a:schemeClr>
            </a:gs>
            <a:gs pos="90000">
              <a:schemeClr val="tx1">
                <a:lumMod val="85000"/>
                <a:lumOff val="15000"/>
              </a:schemeClr>
            </a:gs>
            <a:gs pos="52000">
              <a:srgbClr val="00B050"/>
            </a:gs>
            <a:gs pos="9000">
              <a:schemeClr val="tx1">
                <a:lumMod val="85000"/>
                <a:lumOff val="15000"/>
              </a:schemeClr>
            </a:gs>
            <a:gs pos="91000">
              <a:schemeClr val="tx1">
                <a:lumMod val="65000"/>
                <a:lumOff val="35000"/>
              </a:schemeClr>
            </a:gs>
            <a:gs pos="100000">
              <a:schemeClr val="bg1">
                <a:lumMod val="65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485BF35-5709-4132-8665-B9A7A64E1AFD}"/>
              </a:ext>
            </a:extLst>
          </p:cNvPr>
          <p:cNvSpPr/>
          <p:nvPr/>
        </p:nvSpPr>
        <p:spPr>
          <a:xfrm>
            <a:off x="4800093" y="112989"/>
            <a:ext cx="477283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Montserrat" panose="020B0604020202020204" charset="-52"/>
              </a:rPr>
              <a:t>ВВЕДЕНИЕ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1E4E8E9-40D1-4590-8383-2E9A80A51CE9}"/>
              </a:ext>
            </a:extLst>
          </p:cNvPr>
          <p:cNvSpPr/>
          <p:nvPr/>
        </p:nvSpPr>
        <p:spPr>
          <a:xfrm>
            <a:off x="311750" y="1748207"/>
            <a:ext cx="1047654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Montserrat" panose="020B0604020202020204" charset="-52"/>
              </a:rPr>
              <a:t>В ходе производственной практики мною было проведено ознакомление с применяемыми на предприятии системами управления базами данных. Практическая работа включала в себя изучение и взаимодействие с СУБД MySQL, MSSQL и Oracle, а также освоение инструмента администрирования </a:t>
            </a:r>
            <a:r>
              <a:rPr lang="ru-RU" sz="2400" b="1" dirty="0" err="1">
                <a:solidFill>
                  <a:schemeClr val="bg1"/>
                </a:solidFill>
                <a:latin typeface="Montserrat" panose="020B0604020202020204" charset="-52"/>
              </a:rPr>
              <a:t>pgAdmin</a:t>
            </a:r>
            <a:r>
              <a:rPr lang="ru-RU" sz="2400" b="1" dirty="0">
                <a:solidFill>
                  <a:schemeClr val="bg1"/>
                </a:solidFill>
                <a:latin typeface="Montserrat" panose="020B0604020202020204" charset="-5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98159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000">
              <a:schemeClr val="tx1">
                <a:lumMod val="65000"/>
                <a:lumOff val="35000"/>
              </a:schemeClr>
            </a:gs>
            <a:gs pos="0">
              <a:schemeClr val="bg1">
                <a:lumMod val="65000"/>
              </a:schemeClr>
            </a:gs>
            <a:gs pos="89000">
              <a:schemeClr val="tx1">
                <a:lumMod val="85000"/>
                <a:lumOff val="15000"/>
              </a:schemeClr>
            </a:gs>
            <a:gs pos="46000">
              <a:srgbClr val="92D050"/>
            </a:gs>
            <a:gs pos="10000">
              <a:schemeClr val="tx1">
                <a:lumMod val="85000"/>
                <a:lumOff val="15000"/>
              </a:schemeClr>
            </a:gs>
            <a:gs pos="92000">
              <a:schemeClr val="tx1">
                <a:lumMod val="65000"/>
                <a:lumOff val="35000"/>
              </a:schemeClr>
            </a:gs>
            <a:gs pos="100000">
              <a:schemeClr val="bg1">
                <a:lumMod val="65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F2E2ABC-E796-4019-8B6D-4B22D6441979}"/>
              </a:ext>
            </a:extLst>
          </p:cNvPr>
          <p:cNvSpPr/>
          <p:nvPr/>
        </p:nvSpPr>
        <p:spPr>
          <a:xfrm>
            <a:off x="735662" y="4270860"/>
            <a:ext cx="937164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400" dirty="0">
              <a:solidFill>
                <a:schemeClr val="bg1"/>
              </a:solidFill>
              <a:latin typeface="Montserrat" panose="020B0604020202020204" charset="-52"/>
            </a:endParaRPr>
          </a:p>
          <a:p>
            <a:endParaRPr lang="ru-RU" sz="2400" dirty="0">
              <a:solidFill>
                <a:schemeClr val="bg1"/>
              </a:solidFill>
              <a:latin typeface="Montserrat" panose="020B0604020202020204" charset="-52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541BAF5-E4D2-48FC-B8B7-0AFBFD2F8F2B}"/>
              </a:ext>
            </a:extLst>
          </p:cNvPr>
          <p:cNvSpPr/>
          <p:nvPr/>
        </p:nvSpPr>
        <p:spPr>
          <a:xfrm>
            <a:off x="3722052" y="104568"/>
            <a:ext cx="570642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Montserrat" panose="020B0604020202020204" charset="-52"/>
              </a:rPr>
              <a:t> ЧТО ТАКОЕ СУБД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5CBA349-D21E-4E94-89B6-959CAD072021}"/>
              </a:ext>
            </a:extLst>
          </p:cNvPr>
          <p:cNvSpPr/>
          <p:nvPr/>
        </p:nvSpPr>
        <p:spPr>
          <a:xfrm>
            <a:off x="186372" y="1557313"/>
            <a:ext cx="1023270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Montserrat" panose="020B0604020202020204" charset="-52"/>
              </a:rPr>
              <a:t>Система управления базами данных (СУБД) — это программное обеспечение, предназначенное для создания, хранения, обработки и управления структурированными данными.</a:t>
            </a:r>
          </a:p>
          <a:p>
            <a:r>
              <a:rPr lang="ru-RU" sz="2400" b="1" dirty="0">
                <a:solidFill>
                  <a:schemeClr val="bg1"/>
                </a:solidFill>
                <a:latin typeface="Montserrat" panose="020B0604020202020204" charset="-52"/>
              </a:rPr>
              <a:t>Использование СУБД позволяет выполнять основные операции с данными — такие как добавление, удаление, модификация и поиск, — что значительно упрощает их обработку и повышает общую эффективность работы.</a:t>
            </a:r>
          </a:p>
        </p:txBody>
      </p:sp>
    </p:spTree>
    <p:extLst>
      <p:ext uri="{BB962C8B-B14F-4D97-AF65-F5344CB8AC3E}">
        <p14:creationId xmlns:p14="http://schemas.microsoft.com/office/powerpoint/2010/main" val="2182093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">
              <a:schemeClr val="tx1">
                <a:lumMod val="95000"/>
                <a:lumOff val="5000"/>
                <a:alpha val="89000"/>
              </a:schemeClr>
            </a:gs>
            <a:gs pos="0">
              <a:schemeClr val="bg1">
                <a:lumMod val="65000"/>
              </a:schemeClr>
            </a:gs>
            <a:gs pos="89000">
              <a:schemeClr val="tx1">
                <a:lumMod val="85000"/>
                <a:lumOff val="15000"/>
              </a:schemeClr>
            </a:gs>
            <a:gs pos="52000">
              <a:schemeClr val="accent6">
                <a:lumMod val="75000"/>
              </a:schemeClr>
            </a:gs>
            <a:gs pos="10000">
              <a:schemeClr val="tx1">
                <a:lumMod val="85000"/>
                <a:lumOff val="15000"/>
              </a:schemeClr>
            </a:gs>
            <a:gs pos="91000">
              <a:schemeClr val="tx1">
                <a:lumMod val="65000"/>
                <a:lumOff val="35000"/>
              </a:schemeClr>
            </a:gs>
            <a:gs pos="100000">
              <a:schemeClr val="bg1">
                <a:lumMod val="65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9" descr="Что такое программирование? Языки программирования">
            <a:extLst>
              <a:ext uri="{FF2B5EF4-FFF2-40B4-BE49-F238E27FC236}">
                <a16:creationId xmlns:a16="http://schemas.microsoft.com/office/drawing/2014/main" id="{436BA0A4-622C-4ACF-A5F2-B0F3DCD450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3A458D6-D2DE-4393-8C2A-D04D83AC0FFA}"/>
              </a:ext>
            </a:extLst>
          </p:cNvPr>
          <p:cNvSpPr/>
          <p:nvPr/>
        </p:nvSpPr>
        <p:spPr>
          <a:xfrm>
            <a:off x="5117306" y="138790"/>
            <a:ext cx="226218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ntserrat" panose="020B0604020202020204" charset="-52"/>
              </a:rPr>
              <a:t>MySQL</a:t>
            </a:r>
            <a:endParaRPr lang="ru-RU" sz="3200" b="1" dirty="0">
              <a:solidFill>
                <a:schemeClr val="bg1"/>
              </a:solidFill>
              <a:latin typeface="Montserrat" panose="020B0604020202020204" charset="-52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6523B4A2-F847-4D53-A821-8B4E4C26A2D2}"/>
              </a:ext>
            </a:extLst>
          </p:cNvPr>
          <p:cNvSpPr/>
          <p:nvPr/>
        </p:nvSpPr>
        <p:spPr>
          <a:xfrm>
            <a:off x="389573" y="1113733"/>
            <a:ext cx="1084230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MySQL — это реляционная система управления базами данных (СУБД), предназначенная для хранения, обработки и администрирования структурированных данных. Она активно применяется в корпоративных информационных системах, веб-приложениях и программных решениях для организации работы с данными и автоматизации бизнес-процессов.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31EE11-54DC-46F7-A0DB-C00D3BD5EB9B}"/>
              </a:ext>
            </a:extLst>
          </p:cNvPr>
          <p:cNvSpPr txBox="1"/>
          <p:nvPr/>
        </p:nvSpPr>
        <p:spPr>
          <a:xfrm>
            <a:off x="389573" y="3491824"/>
            <a:ext cx="7916227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Основные возможности</a:t>
            </a:r>
          </a:p>
          <a:p>
            <a:r>
              <a:rPr lang="ru-RU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создание и администрирование баз данных;</a:t>
            </a:r>
          </a:p>
          <a:p>
            <a:r>
              <a:rPr lang="ru-RU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работа с таблицами и SQL-запросами;</a:t>
            </a:r>
          </a:p>
          <a:p>
            <a:r>
              <a:rPr lang="ru-RU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–добавление, изменение и удаление данных;</a:t>
            </a:r>
          </a:p>
          <a:p>
            <a:r>
              <a:rPr lang="ru-RU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обеспечение целостности и сохранности информации</a:t>
            </a:r>
          </a:p>
        </p:txBody>
      </p:sp>
    </p:spTree>
    <p:extLst>
      <p:ext uri="{BB962C8B-B14F-4D97-AF65-F5344CB8AC3E}">
        <p14:creationId xmlns:p14="http://schemas.microsoft.com/office/powerpoint/2010/main" val="4072374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">
              <a:srgbClr val="51594C"/>
            </a:gs>
            <a:gs pos="9000">
              <a:schemeClr val="tx1">
                <a:lumMod val="65000"/>
                <a:lumOff val="35000"/>
              </a:schemeClr>
            </a:gs>
            <a:gs pos="0">
              <a:schemeClr val="bg1">
                <a:lumMod val="65000"/>
              </a:schemeClr>
            </a:gs>
            <a:gs pos="91000">
              <a:schemeClr val="tx1">
                <a:lumMod val="85000"/>
                <a:lumOff val="15000"/>
              </a:schemeClr>
            </a:gs>
            <a:gs pos="52000">
              <a:schemeClr val="accent6">
                <a:lumMod val="50000"/>
              </a:schemeClr>
            </a:gs>
            <a:gs pos="7000">
              <a:schemeClr val="tx1">
                <a:lumMod val="80000"/>
                <a:lumOff val="20000"/>
              </a:schemeClr>
            </a:gs>
            <a:gs pos="91000">
              <a:schemeClr val="tx1">
                <a:lumMod val="65000"/>
                <a:lumOff val="35000"/>
              </a:schemeClr>
            </a:gs>
            <a:gs pos="100000">
              <a:schemeClr val="bg1">
                <a:lumMod val="65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CC897782-EC84-4ADB-ADC4-756AA3F30FE3}"/>
              </a:ext>
            </a:extLst>
          </p:cNvPr>
          <p:cNvSpPr txBox="1">
            <a:spLocks/>
          </p:cNvSpPr>
          <p:nvPr/>
        </p:nvSpPr>
        <p:spPr>
          <a:xfrm>
            <a:off x="388437" y="1657350"/>
            <a:ext cx="8944534" cy="15929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ru-RU" sz="2400" dirty="0">
                <a:solidFill>
                  <a:schemeClr val="bg1"/>
                </a:solidFill>
                <a:latin typeface="+mn-lt"/>
              </a:rPr>
            </a:br>
            <a:br>
              <a:rPr lang="ru-RU" sz="2400" dirty="0">
                <a:solidFill>
                  <a:schemeClr val="bg1"/>
                </a:solidFill>
                <a:latin typeface="+mn-lt"/>
              </a:rPr>
            </a:br>
            <a:endParaRPr lang="ru-RU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4329693-EF5A-4F8E-AF47-BA43C460A97E}"/>
              </a:ext>
            </a:extLst>
          </p:cNvPr>
          <p:cNvSpPr/>
          <p:nvPr/>
        </p:nvSpPr>
        <p:spPr>
          <a:xfrm>
            <a:off x="4719514" y="53522"/>
            <a:ext cx="244037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ntserrat" panose="020B0604020202020204" charset="-52"/>
              </a:rPr>
              <a:t>MongoDB</a:t>
            </a:r>
            <a:endParaRPr lang="ru-RU" sz="3200" b="1" dirty="0">
              <a:solidFill>
                <a:schemeClr val="bg1"/>
              </a:solidFill>
              <a:latin typeface="Montserrat" panose="020B0604020202020204" charset="-52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C714A84-9F8F-45FB-87FD-5E2BA9159371}"/>
              </a:ext>
            </a:extLst>
          </p:cNvPr>
          <p:cNvSpPr/>
          <p:nvPr/>
        </p:nvSpPr>
        <p:spPr>
          <a:xfrm>
            <a:off x="388437" y="1038292"/>
            <a:ext cx="1110252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MongoDB — это современная документо-ориентированная система управления базами данных, разработанная для гибкого хранения, обработки и управления структурированной и неструктурированной информацией.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5630C1-0247-4C8C-8829-69DC472832D2}"/>
              </a:ext>
            </a:extLst>
          </p:cNvPr>
          <p:cNvSpPr/>
          <p:nvPr/>
        </p:nvSpPr>
        <p:spPr>
          <a:xfrm>
            <a:off x="388437" y="2607952"/>
            <a:ext cx="1148924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Montserrat" panose="020B0604020202020204" charset="-52"/>
              </a:rPr>
              <a:t>Ключевые возможности</a:t>
            </a:r>
          </a:p>
          <a:p>
            <a:r>
              <a:rPr lang="ru-RU" sz="2000" b="1" dirty="0">
                <a:solidFill>
                  <a:schemeClr val="bg1"/>
                </a:solidFill>
                <a:latin typeface="Montserrat" panose="020B0604020202020204" charset="-52"/>
              </a:rPr>
              <a:t>– организация данных в виде коллекций и документов с возможностью вложенности;– выполнение операций для добавления, изменения, удаления и выборки данных;– управление правами доступа и безопасностью пользователей;– обеспечение масштабируемости, высокой производительности и надёжности при работе с большими объёмами информации.</a:t>
            </a:r>
          </a:p>
        </p:txBody>
      </p:sp>
    </p:spTree>
    <p:extLst>
      <p:ext uri="{BB962C8B-B14F-4D97-AF65-F5344CB8AC3E}">
        <p14:creationId xmlns:p14="http://schemas.microsoft.com/office/powerpoint/2010/main" val="1783792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000">
              <a:schemeClr val="tx1">
                <a:lumMod val="65000"/>
                <a:lumOff val="35000"/>
              </a:schemeClr>
            </a:gs>
            <a:gs pos="0">
              <a:schemeClr val="bg1">
                <a:lumMod val="65000"/>
              </a:schemeClr>
            </a:gs>
            <a:gs pos="88000">
              <a:schemeClr val="tx1">
                <a:lumMod val="85000"/>
                <a:lumOff val="15000"/>
              </a:schemeClr>
            </a:gs>
            <a:gs pos="48000">
              <a:srgbClr val="FF0000"/>
            </a:gs>
            <a:gs pos="7000">
              <a:schemeClr val="tx1">
                <a:lumMod val="85000"/>
                <a:lumOff val="15000"/>
              </a:schemeClr>
            </a:gs>
            <a:gs pos="91000">
              <a:schemeClr val="tx1">
                <a:lumMod val="65000"/>
                <a:lumOff val="35000"/>
              </a:schemeClr>
            </a:gs>
            <a:gs pos="100000">
              <a:schemeClr val="bg1">
                <a:lumMod val="65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2A641D7-2981-4C83-8028-F2F5057E4C90}"/>
              </a:ext>
            </a:extLst>
          </p:cNvPr>
          <p:cNvSpPr/>
          <p:nvPr/>
        </p:nvSpPr>
        <p:spPr>
          <a:xfrm>
            <a:off x="389573" y="192756"/>
            <a:ext cx="226218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3200" b="1" dirty="0">
              <a:solidFill>
                <a:schemeClr val="bg1"/>
              </a:solidFill>
              <a:latin typeface="Montserrat" panose="020B0604020202020204" charset="-52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D65C3ADE-C2FC-4283-B2F6-836497C26900}"/>
              </a:ext>
            </a:extLst>
          </p:cNvPr>
          <p:cNvSpPr/>
          <p:nvPr/>
        </p:nvSpPr>
        <p:spPr>
          <a:xfrm>
            <a:off x="4581168" y="152302"/>
            <a:ext cx="226218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ntserrat" panose="020B0604020202020204" charset="-52"/>
              </a:rPr>
              <a:t>ORACLE</a:t>
            </a:r>
            <a:endParaRPr lang="ru-RU" sz="3200" b="1" dirty="0">
              <a:solidFill>
                <a:schemeClr val="bg1"/>
              </a:solidFill>
              <a:latin typeface="Montserrat" panose="020B0604020202020204" charset="-52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BA842C05-FAAA-43AD-8E6B-2CA537A0FB65}"/>
              </a:ext>
            </a:extLst>
          </p:cNvPr>
          <p:cNvSpPr/>
          <p:nvPr/>
        </p:nvSpPr>
        <p:spPr>
          <a:xfrm>
            <a:off x="389573" y="843005"/>
            <a:ext cx="1091660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Oracle Database — это система управления базами данных, ориентированная на работу с большими объёмами информации и использование в корпоративных информационных системах.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8F3528-A123-4CA9-A1D6-31A327F27DC1}"/>
              </a:ext>
            </a:extLst>
          </p:cNvPr>
          <p:cNvSpPr txBox="1"/>
          <p:nvPr/>
        </p:nvSpPr>
        <p:spPr>
          <a:xfrm>
            <a:off x="389573" y="2149262"/>
            <a:ext cx="838319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Основные особенности</a:t>
            </a:r>
          </a:p>
          <a:p>
            <a:r>
              <a:rPr lang="ru-RU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хранение данных в структурированном виде;</a:t>
            </a:r>
          </a:p>
          <a:p>
            <a:r>
              <a:rPr lang="ru-RU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выполнение запросов и обработка информации;</a:t>
            </a:r>
          </a:p>
          <a:p>
            <a:r>
              <a:rPr lang="ru-RU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поддержка многопользовательской работы;</a:t>
            </a:r>
          </a:p>
          <a:p>
            <a:r>
              <a:rPr lang="ru-RU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обеспечение надёжности и целостности данных.</a:t>
            </a:r>
          </a:p>
        </p:txBody>
      </p:sp>
      <p:pic>
        <p:nvPicPr>
          <p:cNvPr id="6152" name="Picture 8">
            <a:extLst>
              <a:ext uri="{FF2B5EF4-FFF2-40B4-BE49-F238E27FC236}">
                <a16:creationId xmlns:a16="http://schemas.microsoft.com/office/drawing/2014/main" id="{AF2B914F-1BE6-40B6-974D-4C149F5C33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9927" y="3550920"/>
            <a:ext cx="4762500" cy="268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3487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587C4-146E-B256-A8BE-DF0281027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reating a Splash Screen in Delphi Applications">
            <a:extLst>
              <a:ext uri="{FF2B5EF4-FFF2-40B4-BE49-F238E27FC236}">
                <a16:creationId xmlns:a16="http://schemas.microsoft.com/office/drawing/2014/main" id="{C4688D5E-94F1-6AF5-BD3C-0ADDD0C20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1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51372"/>
            <a:ext cx="12192000" cy="8160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2F36F81-C468-9C9D-18AC-71A28D22FD56}"/>
              </a:ext>
            </a:extLst>
          </p:cNvPr>
          <p:cNvSpPr/>
          <p:nvPr/>
        </p:nvSpPr>
        <p:spPr>
          <a:xfrm>
            <a:off x="4507615" y="-38361"/>
            <a:ext cx="29567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ntserrat" panose="020B0604020202020204" charset="-52"/>
              </a:rPr>
              <a:t>PostgreSQL </a:t>
            </a:r>
            <a:endParaRPr lang="ru-RU" sz="3200" b="1" dirty="0">
              <a:solidFill>
                <a:schemeClr val="bg1"/>
              </a:solidFill>
              <a:latin typeface="Montserrat" panose="020B0604020202020204" charset="-52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4B3EA11-7A96-4697-EE27-9EEEE3470A3D}"/>
              </a:ext>
            </a:extLst>
          </p:cNvPr>
          <p:cNvSpPr/>
          <p:nvPr/>
        </p:nvSpPr>
        <p:spPr>
          <a:xfrm>
            <a:off x="389573" y="839339"/>
            <a:ext cx="11192827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err="1">
                <a:solidFill>
                  <a:schemeClr val="bg1"/>
                </a:solidFill>
                <a:latin typeface="Montserrat" panose="020B0604020202020204" charset="-52"/>
              </a:rPr>
              <a:t>PostgreSQL</a:t>
            </a:r>
            <a:r>
              <a:rPr lang="ru-RU" sz="2000" b="1" dirty="0">
                <a:solidFill>
                  <a:schemeClr val="bg1"/>
                </a:solidFill>
                <a:latin typeface="Montserrat" panose="020B0604020202020204" charset="-52"/>
              </a:rPr>
              <a:t> — это мощная, объектно-реляционная система управления базами данных (СУБД) с открытым исходным кодом. Она широко используется для хранения, обработки и управления структурированными данными.</a:t>
            </a:r>
          </a:p>
          <a:p>
            <a:endParaRPr lang="ru-RU" sz="2400" b="1" dirty="0">
              <a:solidFill>
                <a:schemeClr val="bg1"/>
              </a:solidFill>
              <a:latin typeface="Montserrat" panose="020B0604020202020204" charset="-52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9FD590B-24C4-8002-7043-D04A650CFE20}"/>
              </a:ext>
            </a:extLst>
          </p:cNvPr>
          <p:cNvSpPr/>
          <p:nvPr/>
        </p:nvSpPr>
        <p:spPr>
          <a:xfrm>
            <a:off x="389573" y="2202768"/>
            <a:ext cx="11695747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  <a:latin typeface="Montserrat" panose="020B0604020202020204" charset="-52"/>
              </a:rPr>
              <a:t>Основные возможности </a:t>
            </a:r>
            <a:r>
              <a:rPr lang="ru-RU" sz="2000" b="1" dirty="0" err="1">
                <a:solidFill>
                  <a:schemeClr val="bg1"/>
                </a:solidFill>
                <a:latin typeface="Montserrat" panose="020B0604020202020204" charset="-52"/>
              </a:rPr>
              <a:t>PostgreSQL</a:t>
            </a:r>
            <a:r>
              <a:rPr lang="ru-RU" sz="2000" b="1" dirty="0">
                <a:solidFill>
                  <a:schemeClr val="bg1"/>
                </a:solidFill>
                <a:latin typeface="Montserrat" panose="020B0604020202020204" charset="-52"/>
              </a:rPr>
              <a:t>:</a:t>
            </a:r>
          </a:p>
          <a:p>
            <a:endParaRPr lang="ru-RU" sz="2000" b="1" dirty="0">
              <a:solidFill>
                <a:schemeClr val="bg1"/>
              </a:solidFill>
              <a:latin typeface="Montserrat" panose="020B0604020202020204" charset="-52"/>
            </a:endParaRPr>
          </a:p>
          <a:p>
            <a:r>
              <a:rPr lang="ru-RU" sz="2000" b="1" dirty="0">
                <a:solidFill>
                  <a:schemeClr val="bg1"/>
                </a:solidFill>
                <a:latin typeface="Montserrat" panose="020B0604020202020204" charset="-52"/>
              </a:rPr>
              <a:t>Поддержка SQL (стандартный язык запросов) и расширений (например, оконные функции, общие табличные выражения).</a:t>
            </a:r>
          </a:p>
          <a:p>
            <a:r>
              <a:rPr lang="ru-RU" sz="2000" b="1" dirty="0">
                <a:solidFill>
                  <a:schemeClr val="bg1"/>
                </a:solidFill>
                <a:latin typeface="Montserrat" panose="020B0604020202020204" charset="-52"/>
              </a:rPr>
              <a:t>Транзакции с поддержкой ACID (атомарность, согласованность, изолированность, долговечность).</a:t>
            </a:r>
          </a:p>
          <a:p>
            <a:r>
              <a:rPr lang="ru-RU" sz="2000" b="1" dirty="0">
                <a:solidFill>
                  <a:schemeClr val="bg1"/>
                </a:solidFill>
                <a:latin typeface="Montserrat" panose="020B0604020202020204" charset="-52"/>
              </a:rPr>
              <a:t>Расширяемость: возможность добавлять пользовательские типы данных, функции, операторы.</a:t>
            </a:r>
          </a:p>
          <a:p>
            <a:r>
              <a:rPr lang="ru-RU" sz="2000" b="1" dirty="0">
                <a:solidFill>
                  <a:schemeClr val="bg1"/>
                </a:solidFill>
                <a:latin typeface="Montserrat" panose="020B0604020202020204" charset="-52"/>
              </a:rPr>
              <a:t>Репликация, разделение данных (</a:t>
            </a:r>
            <a:r>
              <a:rPr lang="ru-RU" sz="2000" b="1" dirty="0" err="1">
                <a:solidFill>
                  <a:schemeClr val="bg1"/>
                </a:solidFill>
                <a:latin typeface="Montserrat" panose="020B0604020202020204" charset="-52"/>
              </a:rPr>
              <a:t>шардинг</a:t>
            </a:r>
            <a:r>
              <a:rPr lang="ru-RU" sz="2000" b="1" dirty="0">
                <a:solidFill>
                  <a:schemeClr val="bg1"/>
                </a:solidFill>
                <a:latin typeface="Montserrat" panose="020B0604020202020204" charset="-52"/>
              </a:rPr>
              <a:t>), резервное копирование.</a:t>
            </a:r>
          </a:p>
          <a:p>
            <a:r>
              <a:rPr lang="ru-RU" sz="2000" b="1" dirty="0">
                <a:solidFill>
                  <a:schemeClr val="bg1"/>
                </a:solidFill>
                <a:latin typeface="Montserrat" panose="020B0604020202020204" charset="-52"/>
              </a:rPr>
              <a:t>Поддержка JSON/JSONB для работы с </a:t>
            </a:r>
            <a:r>
              <a:rPr lang="ru-RU" sz="2000" b="1" dirty="0" err="1">
                <a:solidFill>
                  <a:schemeClr val="bg1"/>
                </a:solidFill>
                <a:latin typeface="Montserrat" panose="020B0604020202020204" charset="-52"/>
              </a:rPr>
              <a:t>полуструктурированными</a:t>
            </a:r>
            <a:r>
              <a:rPr lang="ru-RU" sz="2000" b="1" dirty="0">
                <a:solidFill>
                  <a:schemeClr val="bg1"/>
                </a:solidFill>
                <a:latin typeface="Montserrat" panose="020B0604020202020204" charset="-52"/>
              </a:rPr>
              <a:t> данными.</a:t>
            </a:r>
          </a:p>
          <a:p>
            <a:r>
              <a:rPr lang="ru-RU" sz="2000" b="1" dirty="0">
                <a:solidFill>
                  <a:schemeClr val="bg1"/>
                </a:solidFill>
                <a:latin typeface="Montserrat" panose="020B0604020202020204" charset="-52"/>
              </a:rPr>
              <a:t>Высокая производительность и надежность, подходит для высоконагруженных систем.</a:t>
            </a:r>
          </a:p>
          <a:p>
            <a:r>
              <a:rPr lang="ru-RU" sz="2000" b="1" dirty="0">
                <a:solidFill>
                  <a:schemeClr val="bg1"/>
                </a:solidFill>
                <a:latin typeface="Montserrat" panose="020B0604020202020204" charset="-52"/>
              </a:rPr>
              <a:t>Интеграция с языками программирования (Python, Java, C#, Delphi через драйверы).</a:t>
            </a:r>
            <a:endParaRPr lang="ru-RU" sz="3200" b="1" dirty="0">
              <a:solidFill>
                <a:schemeClr val="bg1"/>
              </a:solidFill>
              <a:latin typeface="Montserrat" panose="020B0604020202020204" charset="-52"/>
            </a:endParaRP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2D0283B0-AC6E-8B56-6ACA-3C1F136996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6636" y="105368"/>
            <a:ext cx="1535364" cy="1580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9335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000">
              <a:schemeClr val="tx1">
                <a:lumMod val="65000"/>
                <a:lumOff val="35000"/>
              </a:schemeClr>
            </a:gs>
            <a:gs pos="0">
              <a:schemeClr val="bg1">
                <a:lumMod val="65000"/>
              </a:schemeClr>
            </a:gs>
            <a:gs pos="90000">
              <a:schemeClr val="tx1">
                <a:lumMod val="85000"/>
                <a:lumOff val="15000"/>
              </a:schemeClr>
            </a:gs>
            <a:gs pos="52000">
              <a:schemeClr val="accent2">
                <a:lumMod val="75000"/>
              </a:schemeClr>
            </a:gs>
            <a:gs pos="6000">
              <a:schemeClr val="tx1">
                <a:lumMod val="85000"/>
                <a:lumOff val="15000"/>
              </a:schemeClr>
            </a:gs>
            <a:gs pos="91000">
              <a:schemeClr val="tx1">
                <a:lumMod val="65000"/>
                <a:lumOff val="35000"/>
              </a:schemeClr>
            </a:gs>
            <a:gs pos="100000">
              <a:schemeClr val="bg1">
                <a:lumMod val="65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EBD08AC-22EB-D960-C1FE-34638C0BA547}"/>
              </a:ext>
            </a:extLst>
          </p:cNvPr>
          <p:cNvSpPr txBox="1"/>
          <p:nvPr/>
        </p:nvSpPr>
        <p:spPr>
          <a:xfrm>
            <a:off x="2336800" y="127000"/>
            <a:ext cx="90830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Montserrat" panose="020B0604020202020204" charset="-52"/>
              </a:rPr>
              <a:t>ИНДИВИДУАЛЬНОЕ ЗАДАНИЕ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CAC0D9-E30C-BF77-C7A8-69B51CF15D09}"/>
              </a:ext>
            </a:extLst>
          </p:cNvPr>
          <p:cNvSpPr txBox="1"/>
          <p:nvPr/>
        </p:nvSpPr>
        <p:spPr>
          <a:xfrm>
            <a:off x="71120" y="1726002"/>
            <a:ext cx="11135360" cy="2998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ru-RU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Выполнить задания по проектированию, доработке сайта на основе шаблона MVC «Система управления аптекой (учет лекарств и заказов)»</a:t>
            </a:r>
            <a:endParaRPr lang="ru-RU" sz="1800" dirty="0">
              <a:solidFill>
                <a:schemeClr val="bg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ru-RU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Разработать меню пользователя, в котором будут ссылки на корзину/архив и профиль пользователя. Добавить на страницу с каталогом поиск.</a:t>
            </a:r>
            <a:endParaRPr lang="ru-RU" sz="1800" dirty="0">
              <a:solidFill>
                <a:schemeClr val="bg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ru-RU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Меню должно открываться по нажатию на иконку с картинкой пользователя вверху шапки сайта. Добавить возможность редактирования профиля пользователя. Добавить панель администратора.</a:t>
            </a:r>
            <a:endParaRPr lang="ru-RU" sz="1800" dirty="0">
              <a:solidFill>
                <a:schemeClr val="bg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ru-RU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Для корзины/архива необходимо реализовать функционал добавления элементов из каталога и впоследствии возможность удаление элемента из корзины/каталога.</a:t>
            </a:r>
            <a:endParaRPr lang="ru-RU" sz="1800" dirty="0">
              <a:solidFill>
                <a:schemeClr val="bg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131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A3BACB-C71F-4D15-991E-AA3844201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8947" y="133777"/>
            <a:ext cx="6217742" cy="1073150"/>
          </a:xfrm>
        </p:spPr>
        <p:txBody>
          <a:bodyPr>
            <a:noAutofit/>
          </a:bodyPr>
          <a:lstStyle/>
          <a:p>
            <a:r>
              <a:rPr lang="ru-RU" b="1" spc="-66" dirty="0">
                <a:solidFill>
                  <a:schemeClr val="bg1"/>
                </a:solidFill>
                <a:latin typeface="Montserrat Ultra-Bold"/>
              </a:rPr>
              <a:t>Заключение</a:t>
            </a:r>
            <a:endParaRPr lang="ru-RU" b="1" dirty="0">
              <a:solidFill>
                <a:schemeClr val="bg1"/>
              </a:solidFill>
              <a:latin typeface="Montserrat" panose="020B0604020202020204" charset="-5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0DF60A-D670-468E-AFD9-4DDFDD34B438}"/>
              </a:ext>
            </a:extLst>
          </p:cNvPr>
          <p:cNvSpPr txBox="1"/>
          <p:nvPr/>
        </p:nvSpPr>
        <p:spPr>
          <a:xfrm>
            <a:off x="109560" y="1448415"/>
            <a:ext cx="1156716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ходе производственной практики было сформировано общее представление о принципах работы с базами данных и инструментами разработки прикладного программного обеспечения.</a:t>
            </a:r>
          </a:p>
          <a:p>
            <a:endParaRPr lang="ru-RU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Были освоены навыки взаимодействия с различными системами управления базами данных, такими как MySQL, 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</a:p>
          <a:p>
            <a:r>
              <a:rPr lang="ru-RU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Oracle, а также среда программирования 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r>
              <a:rPr lang="ru-RU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Кроме того, были изучены базовые принципы организации хранения, обработки и практического применения данных в рамках реальных задач предприятия.</a:t>
            </a:r>
          </a:p>
        </p:txBody>
      </p:sp>
    </p:spTree>
    <p:extLst>
      <p:ext uri="{BB962C8B-B14F-4D97-AF65-F5344CB8AC3E}">
        <p14:creationId xmlns:p14="http://schemas.microsoft.com/office/powerpoint/2010/main" val="956552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726</TotalTime>
  <Words>638</Words>
  <Application>Microsoft Office PowerPoint</Application>
  <PresentationFormat>Widescreen</PresentationFormat>
  <Paragraphs>56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Montserrat</vt:lpstr>
      <vt:lpstr>Montserrat Ultra-Bold</vt:lpstr>
      <vt:lpstr>Open Sans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сергей ярмак</cp:lastModifiedBy>
  <cp:revision>75</cp:revision>
  <dcterms:created xsi:type="dcterms:W3CDTF">2025-06-12T19:54:53Z</dcterms:created>
  <dcterms:modified xsi:type="dcterms:W3CDTF">2025-12-25T01:33:19Z</dcterms:modified>
</cp:coreProperties>
</file>